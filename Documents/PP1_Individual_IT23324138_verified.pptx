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1" d="100"/>
          <a:sy n="51" d="100"/>
        </p:scale>
        <p:origin x="869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0516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Sub-problem, how the component solves it, and the prototype stack (PP1 proposal, J26-IT-372).</a:t>
            </a:r>
          </a:p>
          <a:p>
            <a:r>
              <a:rPr lang="en-US" dirty="0"/>
              <a:t>Evidence (repository): OCR pipeline backend/app/services/ocr/pipeline.py with three trained models in backend/models (script-ID CNN, handwriting CRNN, CRF field tagger). Gemma 3 4B normaliser exists but is optional and switched off (LLM_PROVIDER=none), so it is not claimed.</a:t>
            </a:r>
          </a:p>
          <a:p>
            <a:r>
              <a:rPr lang="en-US" dirty="0"/>
              <a:t>IoT: ESP32-CAM + HX711 + 1 kg load cell, Rs 4,800; prototype range 5-500 g (tariff.py). A real 11.4 g letter (PA-DEMO-VZ3F4TGKZ54) was weighed on the board and accepted on 11 Oct 2026. The laptop bridge (backend/tools/device_bridge.py) polls the board.</a:t>
            </a:r>
          </a:p>
          <a:p>
            <a:r>
              <a:rPr lang="en-US" dirty="0"/>
              <a:t>Tariff: SL Post domestic notice of 9 Feb 2026, transcribed (not yet approved by a postal officer). 20 g registered letter = Rs 70 + Rs 60 = Rs 130.</a:t>
            </a:r>
          </a:p>
          <a:p>
            <a:r>
              <a:rPr lang="en-US" dirty="0"/>
              <a:t>Opaque ID: PA-DEMO- + 10 random base-32 characters + check character (tracking_id.py). It is the item's database key, the only value in the Code 128 and QR, checked by the counter label-verify step and by the field app's lookup (wrong check character = rescan). The public tracking page also needs a secret token.</a:t>
            </a:r>
          </a:p>
          <a:p>
            <a:r>
              <a:rPr lang="en-US" dirty="0"/>
              <a:t>Postman app: React Native (Expo SDK 57) in mobile_app/ with expo-camera, expo-location and expo-sqlite - not Flutter. Offline-restart test on a real phone (T11) is still to run.</a:t>
            </a:r>
          </a:p>
          <a:p>
            <a:r>
              <a:rPr lang="en-US" dirty="0"/>
              <a:t>Tests: 69 automated backend tests pass (14 Oct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JSON box: actual output of POST /api/scans on 14 Oct 2026 (backend with demo seed data, delivered scan 420 m from the demo office, accuracy 18 m). Fields trimmed: event_id, reasons [], late false.</a:t>
            </a:r>
          </a:p>
          <a:p>
            <a:r>
              <a:rPr lang="en-US" dirty="0"/>
              <a:t>Design evidence: handwriting CER from ml/reports/htr/REPORT.md (227 real SinOCR Sinhala lines: 18.1% vs Tesseract 90.7%; 400 IAM English lines: 9.2% vs 56.2%). Tamil handwriting is untested (fonts only) - do not claim it.</a:t>
            </a:r>
          </a:p>
          <a:p>
            <a:r>
              <a:rPr lang="en-US" dirty="0"/>
              <a:t>1,000 replays -&gt; 1 event, 1 message: backend/tests/test_workflow.py::test_replay_1000_times_T12.</a:t>
            </a:r>
          </a:p>
          <a:p>
            <a:r>
              <a:rPr lang="en-US" dirty="0"/>
              <a:t>L2 GPS (location.py): 20,000 simulated scans - valid scans wrongly held 1.7% vs 6.9% for a fixed radius; stale fixes never reported consistent.</a:t>
            </a:r>
          </a:p>
          <a:p>
            <a:r>
              <a:rPr lang="en-US" dirty="0"/>
              <a:t>USER FEEDBACK: the orange [ ... ] parts are slots. Replace them with what real users (counter officers, a postmaster, postmen) said after trying the prototype, then change the orange text back to dark. Do not present invented feedback.</a:t>
            </a:r>
          </a:p>
          <a:p>
            <a:r>
              <a:rPr lang="en-US" dirty="0"/>
              <a:t>Quick way: let 3-5 users do capture -&gt; weigh -&gt; quote -&gt; label -&gt; scan, record time/errors with Datasets/templates/usability_task_log_template.csv, give the SUS form, and ask: what was easier, what confused you, what would stop you using it?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770"/>
                </a:solidFill>
              </a:rPr>
              <a:t>SLIIT Faculty of Computing  |  IT23324138  |  Senarathna W.L.S.K  |  J26-IT-372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1188720" y="201168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3000" b="1" dirty="0">
                <a:solidFill>
                  <a:srgbClr val="14286B"/>
                </a:solidFill>
              </a:defRPr>
            </a:lvl1pPr>
          </a:lstStyle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1188720" y="749808"/>
            <a:ext cx="1060704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300" i="1" dirty="0">
                <a:solidFill>
                  <a:srgbClr val="5B6770"/>
                </a:solidFill>
              </a:defRPr>
            </a:lvl1pPr>
          </a:lstStyle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22960" y="-822960"/>
            <a:ext cx="1920240" cy="1920240"/>
          </a:xfrm>
          <a:prstGeom prst="roundRect">
            <a:avLst>
              <a:gd name="adj" fmla="val 28571"/>
            </a:avLst>
          </a:prstGeom>
          <a:solidFill>
            <a:srgbClr val="A9B3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1188720" y="20116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4286B"/>
                </a:solidFill>
              </a:rPr>
              <a:t>Smart Registered Mail Intake &amp; Tracking System</a:t>
            </a:r>
            <a:endParaRPr lang="en-US" sz="30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1188720" y="74980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770"/>
                </a:solidFill>
              </a:rPr>
              <a:t>PostAssist LK – Intelligent Backbone for Local Postal Services  ·  Individual Component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2103120" cy="411480"/>
          </a:xfrm>
          <a:prstGeom prst="roundRect">
            <a:avLst>
              <a:gd name="adj" fmla="val 48889"/>
            </a:avLst>
          </a:prstGeom>
          <a:solidFill>
            <a:srgbClr val="0E8C8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Sub-Problem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7223760" cy="1143000"/>
          </a:xfrm>
          <a:prstGeom prst="rect">
            <a:avLst/>
          </a:prstGeom>
          <a:solidFill>
            <a:srgbClr val="F4F7FA"/>
          </a:solidFill>
          <a:ln w="12700">
            <a:solidFill>
              <a:srgbClr val="9AA5B1"/>
            </a:solidFill>
          </a:ln>
        </p:spPr>
        <p:txBody>
          <a:bodyPr wrap="square" lIns="76200" tIns="127000" rIns="127000" bIns="762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</a:rPr>
              <a:t>Registered letters lose dependable information between counter acceptance and a credible delivery update: envelope details are retyped, weights and tariffs are transcribed by hand, status updates carry little evidence, and senders miss updates when the network or a messaging service fails.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3291840" cy="411480"/>
          </a:xfrm>
          <a:prstGeom prst="roundRect">
            <a:avLst>
              <a:gd name="adj" fmla="val 48889"/>
            </a:avLst>
          </a:prstGeom>
          <a:solidFill>
            <a:srgbClr val="14286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How PostAssist Addresses It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7223760" cy="2011680"/>
          </a:xfrm>
          <a:prstGeom prst="rect">
            <a:avLst/>
          </a:prstGeom>
          <a:solidFill>
            <a:srgbClr val="EEF1F4"/>
          </a:solidFill>
          <a:ln/>
        </p:spPr>
        <p:txBody>
          <a:bodyPr wrap="square" lIns="76200" tIns="127000" rIns="127000" bIns="5080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F2933"/>
                </a:solidFill>
              </a:rPr>
              <a:t>Assisted intake: </a:t>
            </a:r>
            <a:r>
              <a:rPr lang="en-US" sz="1300" dirty="0">
                <a:solidFill>
                  <a:srgbClr val="1F2933"/>
                </a:solidFill>
              </a:rPr>
              <a:t>camera + trained OCR models suggest address fields in Sinhala, Tamil or English; the officer confirms every field.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F2933"/>
                </a:solidFill>
              </a:rPr>
              <a:t>IoT weighing: </a:t>
            </a:r>
            <a:r>
              <a:rPr lang="en-US" sz="1300" dirty="0">
                <a:solidFill>
                  <a:srgbClr val="1F2933"/>
                </a:solidFill>
              </a:rPr>
              <a:t>ESP32 scale gives a stable weight that is paired with a versioned tariff quote.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F2933"/>
                </a:solidFill>
              </a:rPr>
              <a:t>Barcode / QR label: </a:t>
            </a:r>
            <a:r>
              <a:rPr lang="en-US" sz="1300" dirty="0">
                <a:solidFill>
                  <a:srgbClr val="1F2933"/>
                </a:solidFill>
              </a:rPr>
              <a:t>one opaque tracking ID per letter, printed and verified at the counter.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F2933"/>
                </a:solidFill>
              </a:rPr>
              <a:t>Evidence-aware tracking: </a:t>
            </a:r>
            <a:r>
              <a:rPr lang="en-US" sz="1300" dirty="0">
                <a:solidFill>
                  <a:srgbClr val="1F2933"/>
                </a:solidFill>
              </a:rPr>
              <a:t>postman scans with the mobile app; backend checks role, status step, delivery proof and GPS.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F2933"/>
                </a:solidFill>
              </a:rPr>
              <a:t>Offline + notifications: </a:t>
            </a:r>
            <a:r>
              <a:rPr lang="en-US" sz="1300" dirty="0">
                <a:solidFill>
                  <a:srgbClr val="1F2933"/>
                </a:solidFill>
              </a:rPr>
              <a:t>scans sync later without duplicates; senders get email updates and a tracking page.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01000" y="1188720"/>
            <a:ext cx="3749040" cy="4297680"/>
          </a:xfrm>
          <a:prstGeom prst="roundRect">
            <a:avLst>
              <a:gd name="adj" fmla="val 3659"/>
            </a:avLst>
          </a:prstGeom>
          <a:solidFill>
            <a:srgbClr val="0E8C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092440" y="1280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Prototype Components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0" y="1737360"/>
            <a:ext cx="3383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6B94A"/>
                </a:solidFill>
              </a:rPr>
              <a:t>Counter web app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React + </a:t>
            </a:r>
            <a:r>
              <a:rPr lang="en-US" sz="1400" dirty="0">
                <a:solidFill>
                  <a:srgbClr val="FFFFFF"/>
                </a:solidFill>
              </a:rPr>
              <a:t>JavaScript (Vite)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6B94A"/>
                </a:solidFill>
              </a:rPr>
              <a:t>Backend &amp; rules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Python FastAPI + MongoDB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6B94A"/>
                </a:solidFill>
              </a:rPr>
              <a:t>Address capture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OpenCV + Tesseract + 3 trained models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6B94A"/>
                </a:solidFill>
              </a:rPr>
              <a:t>IoT scale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ESP32 + HX711 load cell (5–500 g)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6B94A"/>
                </a:solidFill>
              </a:rPr>
              <a:t>Postman app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React Native app + GPS, SQLite offline queue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6B94A"/>
                </a:solidFill>
              </a:rPr>
              <a:t>Sender updates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Email outbox + tracking timeline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" y="5669280"/>
            <a:ext cx="1600200" cy="548640"/>
          </a:xfrm>
          <a:prstGeom prst="roundRect">
            <a:avLst>
              <a:gd name="adj" fmla="val 20000"/>
            </a:avLst>
          </a:prstGeom>
          <a:solidFill>
            <a:srgbClr val="14286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5788152"/>
            <a:ext cx="310896" cy="31089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97280" y="5669280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Capture &amp; OCR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240280" y="5843016"/>
            <a:ext cx="201168" cy="201168"/>
          </a:xfrm>
          <a:prstGeom prst="rightArrow">
            <a:avLst/>
          </a:prstGeom>
          <a:solidFill>
            <a:srgbClr val="F6B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468880" y="5669280"/>
            <a:ext cx="1600200" cy="548640"/>
          </a:xfrm>
          <a:prstGeom prst="roundRect">
            <a:avLst>
              <a:gd name="adj" fmla="val 20000"/>
            </a:avLst>
          </a:prstGeom>
          <a:solidFill>
            <a:srgbClr val="14286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608" y="5788152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971800" y="5669280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IoT Weigh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114800" y="5843016"/>
            <a:ext cx="201168" cy="201168"/>
          </a:xfrm>
          <a:prstGeom prst="rightArrow">
            <a:avLst/>
          </a:prstGeom>
          <a:solidFill>
            <a:srgbClr val="F6B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4343400" y="5669280"/>
            <a:ext cx="1600200" cy="548640"/>
          </a:xfrm>
          <a:prstGeom prst="roundRect">
            <a:avLst>
              <a:gd name="adj" fmla="val 20000"/>
            </a:avLst>
          </a:prstGeom>
          <a:solidFill>
            <a:srgbClr val="14286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3128" y="5788152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846320" y="5669280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Tariff Quote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989320" y="5843016"/>
            <a:ext cx="201168" cy="201168"/>
          </a:xfrm>
          <a:prstGeom prst="rightArrow">
            <a:avLst/>
          </a:prstGeom>
          <a:solidFill>
            <a:srgbClr val="F6B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217920" y="5669280"/>
            <a:ext cx="1600200" cy="548640"/>
          </a:xfrm>
          <a:prstGeom prst="roundRect">
            <a:avLst>
              <a:gd name="adj" fmla="val 20000"/>
            </a:avLst>
          </a:prstGeom>
          <a:solidFill>
            <a:srgbClr val="0E8C8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7648" y="5788152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720840" y="5669280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Barcode / QR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7863840" y="5843016"/>
            <a:ext cx="201168" cy="201168"/>
          </a:xfrm>
          <a:prstGeom prst="rightArrow">
            <a:avLst/>
          </a:prstGeom>
          <a:solidFill>
            <a:srgbClr val="F6B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8092440" y="5669280"/>
            <a:ext cx="1600200" cy="548640"/>
          </a:xfrm>
          <a:prstGeom prst="roundRect">
            <a:avLst>
              <a:gd name="adj" fmla="val 20000"/>
            </a:avLst>
          </a:prstGeom>
          <a:solidFill>
            <a:srgbClr val="0E8C8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2168" y="578815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8595360" y="5669280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Scan + GPS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9738360" y="5843016"/>
            <a:ext cx="201168" cy="201168"/>
          </a:xfrm>
          <a:prstGeom prst="rightArrow">
            <a:avLst/>
          </a:prstGeom>
          <a:solidFill>
            <a:srgbClr val="F6B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5"/>
          <p:cNvSpPr/>
          <p:nvPr/>
        </p:nvSpPr>
        <p:spPr>
          <a:xfrm>
            <a:off x="9966960" y="5669280"/>
            <a:ext cx="1600200" cy="548640"/>
          </a:xfrm>
          <a:prstGeom prst="roundRect">
            <a:avLst>
              <a:gd name="adj" fmla="val 20000"/>
            </a:avLst>
          </a:prstGeom>
          <a:solidFill>
            <a:srgbClr val="0E8C8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76688" y="5788152"/>
            <a:ext cx="310896" cy="31089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0469880" y="5669280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Notify Sender</a:t>
            </a:r>
            <a:endParaRPr lang="en-US" sz="12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22960" y="-822960"/>
            <a:ext cx="1920240" cy="1920240"/>
          </a:xfrm>
          <a:prstGeom prst="roundRect">
            <a:avLst>
              <a:gd name="adj" fmla="val 28571"/>
            </a:avLst>
          </a:prstGeom>
          <a:solidFill>
            <a:srgbClr val="A9B3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1188720" y="20116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4286B"/>
                </a:solidFill>
              </a:rPr>
              <a:t>Smart Registered Mail Intake &amp; Tracking System</a:t>
            </a:r>
            <a:endParaRPr lang="en-US" sz="30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1188720" y="74980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770"/>
                </a:solidFill>
              </a:rPr>
              <a:t>PostAssist LK – Intelligent Backbone for Local Postal Services  ·  Individual Component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E4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2618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86B"/>
                </a:solidFill>
              </a:rPr>
              <a:t>Scan Decision – actual API output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32918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"decision": "accepted",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"item_status": "delivered",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"applied_to_state": true,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"flagged": false,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"location": {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"result": "consistent",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"mode": "L2",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"p_inside": 1.0,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"distance_m": 419.9,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"accuracy_m": 18.0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},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"committed_revision": 5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</a:p>
        </p:txBody>
      </p:sp>
      <p:sp>
        <p:nvSpPr>
          <p:cNvPr id="8" name="Text 6"/>
          <p:cNvSpPr/>
          <p:nvPr/>
        </p:nvSpPr>
        <p:spPr>
          <a:xfrm>
            <a:off x="594360" y="44074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8C80"/>
                </a:solidFill>
              </a:rPr>
              <a:t>Checks: role → step → proof → L2 GPS → commit</a:t>
            </a:r>
          </a:p>
        </p:txBody>
      </p:sp>
      <p:sp>
        <p:nvSpPr>
          <p:cNvPr id="9" name="Shape 7"/>
          <p:cNvSpPr/>
          <p:nvPr/>
        </p:nvSpPr>
        <p:spPr>
          <a:xfrm>
            <a:off x="4251960" y="1271016"/>
            <a:ext cx="182880" cy="182880"/>
          </a:xfrm>
          <a:prstGeom prst="ellipse">
            <a:avLst/>
          </a:prstGeom>
          <a:solidFill>
            <a:srgbClr val="0E8C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2628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</a:rPr>
              <a:t>User Requirements Addressed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51960" y="1600200"/>
            <a:ext cx="3794760" cy="3291840"/>
          </a:xfrm>
          <a:prstGeom prst="rect">
            <a:avLst/>
          </a:prstGeom>
          <a:noFill/>
          <a:ln/>
        </p:spPr>
        <p:txBody>
          <a:bodyPr wrap="square" lIns="0" tIns="0" rIns="5080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0E8C80"/>
                </a:solidFill>
              </a:rPr>
              <a:t>Trilingual intake: </a:t>
            </a:r>
            <a:r>
              <a:rPr lang="en-US" sz="1400" dirty="0">
                <a:solidFill>
                  <a:srgbClr val="1F2933"/>
                </a:solidFill>
              </a:rPr>
              <a:t>OCR suggestions, officer confirms every field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0E8C80"/>
                </a:solidFill>
              </a:rPr>
              <a:t>Accurate postage: </a:t>
            </a:r>
            <a:r>
              <a:rPr lang="en-US" sz="1400" dirty="0">
                <a:solidFill>
                  <a:srgbClr val="1F2933"/>
                </a:solidFill>
              </a:rPr>
              <a:t>fresh scale reading + versioned tariff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0E8C80"/>
                </a:solidFill>
              </a:rPr>
              <a:t>One item, one label: </a:t>
            </a:r>
            <a:r>
              <a:rPr lang="en-US" sz="1400" dirty="0">
                <a:solidFill>
                  <a:srgbClr val="1F2933"/>
                </a:solidFill>
              </a:rPr>
              <a:t>barcode/QR open the same record; safe reprint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0E8C80"/>
                </a:solidFill>
              </a:rPr>
              <a:t>Credible tracking: </a:t>
            </a:r>
            <a:r>
              <a:rPr lang="en-US" sz="1400" dirty="0">
                <a:solidFill>
                  <a:srgbClr val="1F2933"/>
                </a:solidFill>
              </a:rPr>
              <a:t>role-checked scans, valid status steps, GPS check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0E8C80"/>
                </a:solidFill>
              </a:rPr>
              <a:t>Works offline: </a:t>
            </a:r>
            <a:r>
              <a:rPr lang="en-US" sz="1400" dirty="0">
                <a:solidFill>
                  <a:srgbClr val="1F2933"/>
                </a:solidFill>
              </a:rPr>
              <a:t>scans saved and synced once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0E8C80"/>
                </a:solidFill>
              </a:rPr>
              <a:t>No app for senders: </a:t>
            </a:r>
            <a:r>
              <a:rPr lang="en-US" sz="1400" dirty="0">
                <a:solidFill>
                  <a:srgbClr val="1F2933"/>
                </a:solidFill>
              </a:rPr>
              <a:t>redacted timeline + email updates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83880" y="1234440"/>
            <a:ext cx="0" cy="3474720"/>
          </a:xfrm>
          <a:prstGeom prst="line">
            <a:avLst/>
          </a:prstGeom>
          <a:noFill/>
          <a:ln w="31750">
            <a:solidFill>
              <a:srgbClr val="1428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366760" y="1271016"/>
            <a:ext cx="182880" cy="182880"/>
          </a:xfrm>
          <a:prstGeom prst="ellipse">
            <a:avLst/>
          </a:prstGeom>
          <a:solidFill>
            <a:srgbClr val="D973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41080" y="1188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</a:rPr>
              <a:t>Design Excellence / Contribution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66760" y="1600200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5080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D9731E"/>
                </a:solidFill>
              </a:rPr>
              <a:t>Human-in-the-loop AI: </a:t>
            </a:r>
            <a:r>
              <a:rPr lang="en-US" sz="1400" dirty="0">
                <a:solidFill>
                  <a:srgbClr val="1F2933"/>
                </a:solidFill>
              </a:rPr>
              <a:t>trained reader (CER 18.1% vs Tesseract 90.7%) only suggests; officer confirms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D9731E"/>
                </a:solidFill>
              </a:rPr>
              <a:t>Uncertainty-aware GPS: </a:t>
            </a:r>
            <a:r>
              <a:rPr lang="en-US" sz="1400" dirty="0">
                <a:solidFill>
                  <a:srgbClr val="1F2933"/>
                </a:solidFill>
              </a:rPr>
              <a:t>consistent, mismatch, uncertain or unlocated, never treated as proof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D9731E"/>
                </a:solidFill>
              </a:rPr>
              <a:t>Reliable events: </a:t>
            </a:r>
            <a:r>
              <a:rPr lang="en-US" sz="1400" dirty="0">
                <a:solidFill>
                  <a:srgbClr val="1F2933"/>
                </a:solidFill>
              </a:rPr>
              <a:t>idempotent sync + outbox; 1,000 replays → 1 event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D9731E"/>
                </a:solidFill>
              </a:rPr>
              <a:t>Privacy-first: </a:t>
            </a:r>
            <a:r>
              <a:rPr lang="en-US" sz="1400" dirty="0">
                <a:solidFill>
                  <a:srgbClr val="1F2933"/>
                </a:solidFill>
              </a:rPr>
              <a:t>opaque ID, no personal data in codes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D9731E"/>
                </a:solidFill>
              </a:rPr>
              <a:t>Low cost, standalone: </a:t>
            </a:r>
            <a:r>
              <a:rPr lang="en-US" sz="1400" dirty="0">
                <a:solidFill>
                  <a:srgbClr val="1F2933"/>
                </a:solidFill>
              </a:rPr>
              <a:t>Rs 4,800 hardware, open-source, no peer dependency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937760"/>
            <a:ext cx="11292840" cy="1389888"/>
          </a:xfrm>
          <a:prstGeom prst="roundRect">
            <a:avLst>
              <a:gd name="adj" fmla="val 5263"/>
            </a:avLst>
          </a:prstGeom>
          <a:solidFill>
            <a:srgbClr val="F4F7FA"/>
          </a:solidFill>
          <a:ln w="19050">
            <a:solidFill>
              <a:srgbClr val="1428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010912"/>
            <a:ext cx="292608" cy="29260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005840" y="499262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86B"/>
                </a:solidFill>
              </a:rPr>
              <a:t>User Feedback on Prototype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949440" y="49926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F2933"/>
                </a:solidFill>
              </a:rPr>
              <a:t xml:space="preserve">Users: </a:t>
            </a:r>
            <a:r>
              <a:rPr lang="en-US" sz="1100" dirty="0">
                <a:solidFill>
                  <a:srgbClr val="D9731E"/>
                </a:solidFill>
              </a:rPr>
              <a:t>[n] officers · [n] postmaster · [n] postmen · [office, date]</a:t>
            </a:r>
          </a:p>
        </p:txBody>
      </p:sp>
      <p:sp>
        <p:nvSpPr>
          <p:cNvPr id="20" name="Text 17"/>
          <p:cNvSpPr/>
          <p:nvPr/>
        </p:nvSpPr>
        <p:spPr>
          <a:xfrm>
            <a:off x="640080" y="5349240"/>
            <a:ext cx="10972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b="1" dirty="0">
                <a:solidFill>
                  <a:srgbClr val="0E8C80"/>
                </a:solidFill>
              </a:rPr>
              <a:t xml:space="preserve">Address capture: </a:t>
            </a:r>
            <a:r>
              <a:rPr lang="en-US" sz="1250" dirty="0">
                <a:solidFill>
                  <a:srgbClr val="D9731E"/>
                </a:solidFill>
              </a:rPr>
              <a:t>[what counter officers said about the OCR suggestions and confirming fields]</a:t>
            </a: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b="1" dirty="0">
                <a:solidFill>
                  <a:srgbClr val="0E8C80"/>
                </a:solidFill>
              </a:rPr>
              <a:t xml:space="preserve">Weighing &amp; tariff: </a:t>
            </a:r>
            <a:r>
              <a:rPr lang="en-US" sz="1250" dirty="0">
                <a:solidFill>
                  <a:srgbClr val="D9731E"/>
                </a:solidFill>
              </a:rPr>
              <a:t>[what they said about the IoT scale reading and the itemised quote]</a:t>
            </a: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b="1" dirty="0">
                <a:solidFill>
                  <a:srgbClr val="0E8C80"/>
                </a:solidFill>
              </a:rPr>
              <a:t xml:space="preserve">Label &amp; tracking: </a:t>
            </a:r>
            <a:r>
              <a:rPr lang="en-US" sz="1250" dirty="0">
                <a:solidFill>
                  <a:srgbClr val="D9731E"/>
                </a:solidFill>
              </a:rPr>
              <a:t>[what the postmaster / postmen said about the label, scanning and the tracking page]</a:t>
            </a: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b="1" dirty="0">
                <a:solidFill>
                  <a:srgbClr val="0E8C80"/>
                </a:solidFill>
              </a:rPr>
              <a:t xml:space="preserve">Improvements requested → changes made: </a:t>
            </a:r>
            <a:r>
              <a:rPr lang="en-US" sz="1250" dirty="0">
                <a:solidFill>
                  <a:srgbClr val="D9731E"/>
                </a:solidFill>
              </a:rPr>
              <a:t>[their requests] → [what I changed because of them]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660</Words>
  <Application>Microsoft Office PowerPoint</Application>
  <PresentationFormat>Widescreen</PresentationFormat>
  <Paragraphs>70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Courier New</vt:lpstr>
      <vt:lpstr>Office Theme</vt:lpstr>
      <vt:lpstr>Smart Registered Mail Intake &amp; Tracking System</vt:lpstr>
      <vt:lpstr>Smart Registered Mail Intake &amp; Tracking System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PP1 Individual Component</dc:title>
  <dc:subject>PptxGenJS Presentation</dc:subject>
  <dc:creator>Senarathna W.L.S.K</dc:creator>
  <cp:lastModifiedBy>PEIRIS M.I.A it22124180</cp:lastModifiedBy>
  <cp:revision>2</cp:revision>
  <dcterms:created xsi:type="dcterms:W3CDTF">2026-10-13T15:45:25Z</dcterms:created>
  <dcterms:modified xsi:type="dcterms:W3CDTF">2026-10-14T11:05:59Z</dcterms:modified>
</cp:coreProperties>
</file>